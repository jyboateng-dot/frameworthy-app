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Internal FrameWorthy proposal; no external claims.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https://www.bubolanaiboframe.art/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Internal FrameWorthy proposal; no external claims.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Internal FrameWorthy proposal; no external claims.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Internal FrameWorthy proposal; no external claims.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Internal FrameWorthy proposal; no external claims.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Internal FrameWorthy proposal; no external claims.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Internal FrameWorthy proposal; no external claims.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Internal FrameWorthy proposal; no external claims.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https://www.bubolanaiboframe.art/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01A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50292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A6824C"/>
                </a:solidFill>
              </a:rPr>
              <a:t>FRAMEWORTHY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6928" y="1417320"/>
            <a:ext cx="81381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 digital front door</a:t>
            </a:r>
            <a:endParaRPr lang="en-US" sz="4200" dirty="0"/>
          </a:p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for exceptional framing.</a:t>
            </a:r>
            <a:endParaRPr lang="en-US" sz="4200" dirty="0"/>
          </a:p>
        </p:txBody>
      </p:sp>
      <p:sp>
        <p:nvSpPr>
          <p:cNvPr id="4" name="Text 2"/>
          <p:cNvSpPr/>
          <p:nvPr/>
        </p:nvSpPr>
        <p:spPr>
          <a:xfrm>
            <a:off x="603504" y="3886200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E8E1D6"/>
                </a:solidFill>
              </a:rPr>
              <a:t>Partnership proposal for Bubola &amp; Naibo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E8E1D6"/>
                </a:solidFill>
              </a:rPr>
              <a:t>Osu, Accra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603504" y="4919472"/>
            <a:ext cx="4023360" cy="0"/>
          </a:xfrm>
          <a:prstGeom prst="line">
            <a:avLst/>
          </a:prstGeom>
          <a:noFill/>
          <a:ln w="19050">
            <a:solidFill>
              <a:srgbClr val="A6824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03504" y="5138928"/>
            <a:ext cx="5760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E8E1D6"/>
                </a:solidFill>
              </a:rPr>
              <a:t>A production partnership first. White-label and acquisition paths available by mutual fit.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B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9184"/>
            <a:ext cx="5943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A682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FRAMEWORTHY × BUBOLA &amp; NAIBO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530352" y="6382512"/>
            <a:ext cx="11137392" cy="0"/>
          </a:xfrm>
          <a:prstGeom prst="line">
            <a:avLst/>
          </a:prstGeom>
          <a:noFill/>
          <a:ln w="7620">
            <a:solidFill>
              <a:srgbClr val="D8D0C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064240" y="6473952"/>
            <a:ext cx="594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5E55"/>
                </a:solidFill>
              </a:rPr>
              <a:t>02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30352" y="749808"/>
            <a:ext cx="10835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201A1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Bubola &amp; Naibo already has the craft customers trust.</a:t>
            </a:r>
            <a:endParaRPr lang="en-US" sz="2900" dirty="0"/>
          </a:p>
        </p:txBody>
      </p:sp>
      <p:sp>
        <p:nvSpPr>
          <p:cNvPr id="6" name="Text 4"/>
          <p:cNvSpPr/>
          <p:nvPr/>
        </p:nvSpPr>
        <p:spPr>
          <a:xfrm>
            <a:off x="530352" y="1353312"/>
            <a:ext cx="9966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665E55"/>
                </a:solidFill>
              </a:rPr>
              <a:t>FrameWorthy can make that craft discoverable, configurable and order-ready online.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530352" y="1874520"/>
            <a:ext cx="3474720" cy="3520440"/>
          </a:xfrm>
          <a:prstGeom prst="rect">
            <a:avLst/>
          </a:prstGeom>
          <a:solidFill>
            <a:srgbClr val="F1ECE4"/>
          </a:solidFill>
          <a:ln w="12700">
            <a:solidFill>
              <a:srgbClr val="F1ECE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30352" y="1874520"/>
            <a:ext cx="73152" cy="3520440"/>
          </a:xfrm>
          <a:prstGeom prst="rect">
            <a:avLst/>
          </a:prstGeom>
          <a:solidFill>
            <a:srgbClr val="A6824C"/>
          </a:solidFill>
          <a:ln w="12700">
            <a:solidFill>
              <a:srgbClr val="A6824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86384" y="2075688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201A17"/>
                </a:solidFill>
              </a:rPr>
              <a:t>Current strength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86384" y="2496312"/>
            <a:ext cx="2999232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1250" dirty="0">
                <a:solidFill>
                  <a:srgbClr val="665E55"/>
                </a:solidFill>
              </a:rPr>
              <a:t>Custom-sized framing</a:t>
            </a:r>
            <a:endParaRPr lang="en-US" sz="1250" dirty="0"/>
          </a:p>
          <a:p>
            <a:pPr marL="152400" indent="-152400">
              <a:buSzPct val="100000"/>
              <a:buChar char="•"/>
            </a:pPr>
            <a:r>
              <a:rPr lang="en-US" sz="1250" dirty="0">
                <a:solidFill>
                  <a:srgbClr val="665E55"/>
                </a:solidFill>
              </a:rPr>
              <a:t>Wide moulding range</a:t>
            </a:r>
            <a:endParaRPr lang="en-US" sz="1250" dirty="0"/>
          </a:p>
          <a:p>
            <a:pPr marL="152400" indent="-152400">
              <a:buSzPct val="100000"/>
              <a:buChar char="•"/>
            </a:pPr>
            <a:r>
              <a:rPr lang="en-US" sz="1250" dirty="0">
                <a:solidFill>
                  <a:srgbClr val="665E55"/>
                </a:solidFill>
              </a:rPr>
              <a:t>Artwork, photographs &amp; artefacts</a:t>
            </a:r>
            <a:endParaRPr lang="en-US" sz="1250" dirty="0"/>
          </a:p>
          <a:p>
            <a:pPr marL="152400" indent="-152400">
              <a:buSzPct val="100000"/>
              <a:buChar char="•"/>
            </a:pPr>
            <a:r>
              <a:rPr lang="en-US" sz="1250" dirty="0">
                <a:solidFill>
                  <a:srgbClr val="665E55"/>
                </a:solidFill>
              </a:rPr>
              <a:t>Wall-decoration expertise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4361688" y="1874520"/>
            <a:ext cx="3474720" cy="3520440"/>
          </a:xfrm>
          <a:prstGeom prst="rect">
            <a:avLst/>
          </a:prstGeom>
          <a:solidFill>
            <a:srgbClr val="F1ECE4"/>
          </a:solidFill>
          <a:ln w="12700">
            <a:solidFill>
              <a:srgbClr val="F1ECE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361688" y="1874520"/>
            <a:ext cx="73152" cy="3520440"/>
          </a:xfrm>
          <a:prstGeom prst="rect">
            <a:avLst/>
          </a:prstGeom>
          <a:solidFill>
            <a:srgbClr val="A6824C"/>
          </a:solidFill>
          <a:ln w="12700">
            <a:solidFill>
              <a:srgbClr val="A6824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17720" y="2075688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201A17"/>
                </a:solidFill>
              </a:rPr>
              <a:t>FrameWorthy contribution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617720" y="2496312"/>
            <a:ext cx="2999232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1250" dirty="0">
                <a:solidFill>
                  <a:srgbClr val="665E55"/>
                </a:solidFill>
              </a:rPr>
              <a:t>Guided configuration</a:t>
            </a:r>
            <a:endParaRPr lang="en-US" sz="1250" dirty="0"/>
          </a:p>
          <a:p>
            <a:pPr marL="152400" indent="-152400">
              <a:buSzPct val="100000"/>
              <a:buChar char="•"/>
            </a:pPr>
            <a:r>
              <a:rPr lang="en-US" sz="1250" dirty="0">
                <a:solidFill>
                  <a:srgbClr val="665E55"/>
                </a:solidFill>
              </a:rPr>
              <a:t>Accurate order specifications</a:t>
            </a:r>
            <a:endParaRPr lang="en-US" sz="1250" dirty="0"/>
          </a:p>
          <a:p>
            <a:pPr marL="152400" indent="-152400">
              <a:buSzPct val="100000"/>
              <a:buChar char="•"/>
            </a:pPr>
            <a:r>
              <a:rPr lang="en-US" sz="1250" dirty="0">
                <a:solidFill>
                  <a:srgbClr val="665E55"/>
                </a:solidFill>
              </a:rPr>
              <a:t>Customer payment journey</a:t>
            </a:r>
            <a:endParaRPr lang="en-US" sz="1250" dirty="0"/>
          </a:p>
          <a:p>
            <a:pPr marL="152400" indent="-152400">
              <a:buSzPct val="100000"/>
              <a:buChar char="•"/>
            </a:pPr>
            <a:r>
              <a:rPr lang="en-US" sz="1250" dirty="0">
                <a:solidFill>
                  <a:srgbClr val="665E55"/>
                </a:solidFill>
              </a:rPr>
              <a:t>Digital visualisation &amp; AR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8193024" y="1874520"/>
            <a:ext cx="3474720" cy="3520440"/>
          </a:xfrm>
          <a:prstGeom prst="rect">
            <a:avLst/>
          </a:prstGeom>
          <a:solidFill>
            <a:srgbClr val="F1ECE4"/>
          </a:solidFill>
          <a:ln w="12700">
            <a:solidFill>
              <a:srgbClr val="F1ECE4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193024" y="1874520"/>
            <a:ext cx="73152" cy="3520440"/>
          </a:xfrm>
          <a:prstGeom prst="rect">
            <a:avLst/>
          </a:prstGeom>
          <a:solidFill>
            <a:srgbClr val="466552"/>
          </a:solidFill>
          <a:ln w="12700">
            <a:solidFill>
              <a:srgbClr val="46655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449056" y="2075688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201A17"/>
                </a:solidFill>
              </a:rPr>
              <a:t>Joint outcome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8449056" y="2496312"/>
            <a:ext cx="2999232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1250" dirty="0">
                <a:solidFill>
                  <a:srgbClr val="665E55"/>
                </a:solidFill>
              </a:rPr>
              <a:t>More qualified enquiries</a:t>
            </a:r>
            <a:endParaRPr lang="en-US" sz="1250" dirty="0"/>
          </a:p>
          <a:p>
            <a:pPr marL="152400" indent="-152400">
              <a:buSzPct val="100000"/>
              <a:buChar char="•"/>
            </a:pPr>
            <a:r>
              <a:rPr lang="en-US" sz="1250" dirty="0">
                <a:solidFill>
                  <a:srgbClr val="665E55"/>
                </a:solidFill>
              </a:rPr>
              <a:t>Fewer vague quotations</a:t>
            </a:r>
            <a:endParaRPr lang="en-US" sz="1250" dirty="0"/>
          </a:p>
          <a:p>
            <a:pPr marL="152400" indent="-152400">
              <a:buSzPct val="100000"/>
              <a:buChar char="•"/>
            </a:pPr>
            <a:r>
              <a:rPr lang="en-US" sz="1250" dirty="0">
                <a:solidFill>
                  <a:srgbClr val="665E55"/>
                </a:solidFill>
              </a:rPr>
              <a:t>A shared production workflow</a:t>
            </a:r>
            <a:endParaRPr lang="en-US" sz="1250" dirty="0"/>
          </a:p>
          <a:p>
            <a:pPr marL="152400" indent="-152400">
              <a:buSzPct val="100000"/>
              <a:buChar char="•"/>
            </a:pPr>
            <a:r>
              <a:rPr lang="en-US" sz="1250" dirty="0">
                <a:solidFill>
                  <a:srgbClr val="665E55"/>
                </a:solidFill>
              </a:rPr>
              <a:t>A stronger premium proposition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B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9184"/>
            <a:ext cx="5943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A682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FRAMEWORTHY × BUBOLA &amp; NAIBO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530352" y="6382512"/>
            <a:ext cx="11137392" cy="0"/>
          </a:xfrm>
          <a:prstGeom prst="line">
            <a:avLst/>
          </a:prstGeom>
          <a:noFill/>
          <a:ln w="7620">
            <a:solidFill>
              <a:srgbClr val="D8D0C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064240" y="6473952"/>
            <a:ext cx="594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5E55"/>
                </a:solidFill>
              </a:rPr>
              <a:t>03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30352" y="749808"/>
            <a:ext cx="10835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201A1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customer journey can become a clean handoff to the workshop.</a:t>
            </a:r>
            <a:endParaRPr lang="en-US" sz="2900" dirty="0"/>
          </a:p>
        </p:txBody>
      </p:sp>
      <p:sp>
        <p:nvSpPr>
          <p:cNvPr id="6" name="Text 4"/>
          <p:cNvSpPr/>
          <p:nvPr/>
        </p:nvSpPr>
        <p:spPr>
          <a:xfrm>
            <a:off x="530352" y="1353312"/>
            <a:ext cx="9966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665E55"/>
                </a:solidFill>
              </a:rPr>
              <a:t>The aim is not to replace judgement at the bench—it is to send better-prepared work into it.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85800" y="2148840"/>
            <a:ext cx="548640" cy="548640"/>
          </a:xfrm>
          <a:prstGeom prst="ellipse">
            <a:avLst/>
          </a:prstGeom>
          <a:solidFill>
            <a:srgbClr val="A6824C"/>
          </a:solidFill>
          <a:ln w="12700">
            <a:solidFill>
              <a:srgbClr val="A6824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50392" y="2322576"/>
            <a:ext cx="1828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1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85800" y="2926080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01A17"/>
                </a:solidFill>
              </a:rPr>
              <a:t>Choose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685800" y="3310128"/>
            <a:ext cx="2148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665E55"/>
                </a:solidFill>
              </a:rPr>
              <a:t>Artwork, size, frame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1344168" y="2423160"/>
            <a:ext cx="1965960" cy="0"/>
          </a:xfrm>
          <a:prstGeom prst="line">
            <a:avLst/>
          </a:prstGeom>
          <a:noFill/>
          <a:ln w="15240">
            <a:solidFill>
              <a:srgbClr val="D8D0C3"/>
            </a:solidFill>
            <a:prstDash val="solid"/>
            <a:headEnd type="none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3456432" y="2148840"/>
            <a:ext cx="548640" cy="548640"/>
          </a:xfrm>
          <a:prstGeom prst="ellipse">
            <a:avLst/>
          </a:prstGeom>
          <a:solidFill>
            <a:srgbClr val="A6824C"/>
          </a:solidFill>
          <a:ln w="12700">
            <a:solidFill>
              <a:srgbClr val="A6824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21024" y="2322576"/>
            <a:ext cx="1828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2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456432" y="2926080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01A17"/>
                </a:solidFill>
              </a:rPr>
              <a:t>Confirm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3456432" y="3310128"/>
            <a:ext cx="2148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665E55"/>
                </a:solidFill>
              </a:rPr>
              <a:t>Price, availability, lead time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114800" y="2423160"/>
            <a:ext cx="1965960" cy="0"/>
          </a:xfrm>
          <a:prstGeom prst="line">
            <a:avLst/>
          </a:prstGeom>
          <a:noFill/>
          <a:ln w="15240">
            <a:solidFill>
              <a:srgbClr val="D8D0C3"/>
            </a:solidFill>
            <a:prstDash val="solid"/>
            <a:headEnd type="none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6227064" y="2148840"/>
            <a:ext cx="548640" cy="548640"/>
          </a:xfrm>
          <a:prstGeom prst="ellipse">
            <a:avLst/>
          </a:prstGeom>
          <a:solidFill>
            <a:srgbClr val="A6824C"/>
          </a:solidFill>
          <a:ln w="12700">
            <a:solidFill>
              <a:srgbClr val="A6824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391656" y="2322576"/>
            <a:ext cx="1828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3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227064" y="2926080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01A17"/>
                </a:solidFill>
              </a:rPr>
              <a:t>Produce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6227064" y="3310128"/>
            <a:ext cx="2148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665E55"/>
                </a:solidFill>
              </a:rPr>
              <a:t>Structured work order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6885432" y="2423160"/>
            <a:ext cx="1965960" cy="0"/>
          </a:xfrm>
          <a:prstGeom prst="line">
            <a:avLst/>
          </a:prstGeom>
          <a:noFill/>
          <a:ln w="15240">
            <a:solidFill>
              <a:srgbClr val="D8D0C3"/>
            </a:solidFill>
            <a:prstDash val="solid"/>
            <a:headEnd type="none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8997696" y="2148840"/>
            <a:ext cx="548640" cy="548640"/>
          </a:xfrm>
          <a:prstGeom prst="ellipse">
            <a:avLst/>
          </a:prstGeom>
          <a:solidFill>
            <a:srgbClr val="A6824C"/>
          </a:solidFill>
          <a:ln w="12700">
            <a:solidFill>
              <a:srgbClr val="A6824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162288" y="2322576"/>
            <a:ext cx="1828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4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8997696" y="2926080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01A17"/>
                </a:solidFill>
              </a:rPr>
              <a:t>Deliver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8997696" y="3310128"/>
            <a:ext cx="2148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665E55"/>
                </a:solidFill>
              </a:rPr>
              <a:t>Pickup or delivery update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B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9184"/>
            <a:ext cx="5943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A682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FRAMEWORTHY × BUBOLA &amp; NAIBO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530352" y="6382512"/>
            <a:ext cx="11137392" cy="0"/>
          </a:xfrm>
          <a:prstGeom prst="line">
            <a:avLst/>
          </a:prstGeom>
          <a:noFill/>
          <a:ln w="7620">
            <a:solidFill>
              <a:srgbClr val="D8D0C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064240" y="6473952"/>
            <a:ext cx="594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5E55"/>
                </a:solidFill>
              </a:rPr>
              <a:t>04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30352" y="749808"/>
            <a:ext cx="10835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201A1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Start with a controlled production pilot.</a:t>
            </a:r>
            <a:endParaRPr lang="en-US" sz="2900" dirty="0"/>
          </a:p>
        </p:txBody>
      </p:sp>
      <p:sp>
        <p:nvSpPr>
          <p:cNvPr id="6" name="Text 4"/>
          <p:cNvSpPr/>
          <p:nvPr/>
        </p:nvSpPr>
        <p:spPr>
          <a:xfrm>
            <a:off x="530352" y="1353312"/>
            <a:ext cx="9966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665E55"/>
                </a:solidFill>
              </a:rPr>
              <a:t>A 60-day pilot proves the operational model before either side makes a large commitment.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530352" y="1920240"/>
            <a:ext cx="3429000" cy="3337560"/>
          </a:xfrm>
          <a:prstGeom prst="rect">
            <a:avLst/>
          </a:prstGeom>
          <a:solidFill>
            <a:srgbClr val="F1ECE4"/>
          </a:solidFill>
          <a:ln w="12700">
            <a:solidFill>
              <a:srgbClr val="F1ECE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30352" y="1920240"/>
            <a:ext cx="73152" cy="3337560"/>
          </a:xfrm>
          <a:prstGeom prst="rect">
            <a:avLst/>
          </a:prstGeom>
          <a:solidFill>
            <a:srgbClr val="A6824C"/>
          </a:solidFill>
          <a:ln w="12700">
            <a:solidFill>
              <a:srgbClr val="A6824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86384" y="2121408"/>
            <a:ext cx="2971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201A17"/>
                </a:solidFill>
              </a:rPr>
              <a:t>Pilot catalogue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86384" y="2542032"/>
            <a:ext cx="2953512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1250" dirty="0">
                <a:solidFill>
                  <a:srgbClr val="665E55"/>
                </a:solidFill>
              </a:rPr>
              <a:t>20–40 verified mouldings</a:t>
            </a:r>
            <a:endParaRPr lang="en-US" sz="1250" dirty="0"/>
          </a:p>
          <a:p>
            <a:pPr marL="152400" indent="-152400">
              <a:buSzPct val="100000"/>
              <a:buChar char="•"/>
            </a:pPr>
            <a:r>
              <a:rPr lang="en-US" sz="1250" dirty="0">
                <a:solidFill>
                  <a:srgbClr val="665E55"/>
                </a:solidFill>
              </a:rPr>
              <a:t>Standard sizes first</a:t>
            </a:r>
            <a:endParaRPr lang="en-US" sz="1250" dirty="0"/>
          </a:p>
          <a:p>
            <a:pPr marL="152400" indent="-152400">
              <a:buSzPct val="100000"/>
              <a:buChar char="•"/>
            </a:pPr>
            <a:r>
              <a:rPr lang="en-US" sz="1250" dirty="0">
                <a:solidFill>
                  <a:srgbClr val="665E55"/>
                </a:solidFill>
              </a:rPr>
              <a:t>Defined matting &amp; glazing choices</a:t>
            </a:r>
            <a:endParaRPr lang="en-US" sz="1250" dirty="0"/>
          </a:p>
          <a:p>
            <a:pPr marL="152400" indent="-152400">
              <a:buSzPct val="100000"/>
              <a:buChar char="•"/>
            </a:pPr>
            <a:r>
              <a:rPr lang="en-US" sz="1250" dirty="0">
                <a:solidFill>
                  <a:srgbClr val="665E55"/>
                </a:solidFill>
              </a:rPr>
              <a:t>Known substitutions and exclusions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4379976" y="1920240"/>
            <a:ext cx="3429000" cy="3337560"/>
          </a:xfrm>
          <a:prstGeom prst="rect">
            <a:avLst/>
          </a:prstGeom>
          <a:solidFill>
            <a:srgbClr val="F1ECE4"/>
          </a:solidFill>
          <a:ln w="12700">
            <a:solidFill>
              <a:srgbClr val="F1ECE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379976" y="1920240"/>
            <a:ext cx="73152" cy="3337560"/>
          </a:xfrm>
          <a:prstGeom prst="rect">
            <a:avLst/>
          </a:prstGeom>
          <a:solidFill>
            <a:srgbClr val="A6824C"/>
          </a:solidFill>
          <a:ln w="12700">
            <a:solidFill>
              <a:srgbClr val="A6824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36008" y="2121408"/>
            <a:ext cx="2971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201A17"/>
                </a:solidFill>
              </a:rPr>
              <a:t>Operating rhythm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636008" y="2542032"/>
            <a:ext cx="2953512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1250" dirty="0">
                <a:solidFill>
                  <a:srgbClr val="665E55"/>
                </a:solidFill>
              </a:rPr>
              <a:t>Named production contact</a:t>
            </a:r>
            <a:endParaRPr lang="en-US" sz="1250" dirty="0"/>
          </a:p>
          <a:p>
            <a:pPr marL="152400" indent="-152400">
              <a:buSzPct val="100000"/>
              <a:buChar char="•"/>
            </a:pPr>
            <a:r>
              <a:rPr lang="en-US" sz="1250" dirty="0">
                <a:solidFill>
                  <a:srgbClr val="665E55"/>
                </a:solidFill>
              </a:rPr>
              <a:t>Order acceptance within agreed window</a:t>
            </a:r>
            <a:endParaRPr lang="en-US" sz="1250" dirty="0"/>
          </a:p>
          <a:p>
            <a:pPr marL="152400" indent="-152400">
              <a:buSzPct val="100000"/>
              <a:buChar char="•"/>
            </a:pPr>
            <a:r>
              <a:rPr lang="en-US" sz="1250" dirty="0">
                <a:solidFill>
                  <a:srgbClr val="665E55"/>
                </a:solidFill>
              </a:rPr>
              <a:t>Status updates: accepted → ready</a:t>
            </a:r>
            <a:endParaRPr lang="en-US" sz="1250" dirty="0"/>
          </a:p>
          <a:p>
            <a:pPr marL="152400" indent="-152400">
              <a:buSzPct val="100000"/>
              <a:buChar char="•"/>
            </a:pPr>
            <a:r>
              <a:rPr lang="en-US" sz="1250" dirty="0">
                <a:solidFill>
                  <a:srgbClr val="665E55"/>
                </a:solidFill>
              </a:rPr>
              <a:t>Weekly exception review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8229600" y="1920240"/>
            <a:ext cx="3429000" cy="3337560"/>
          </a:xfrm>
          <a:prstGeom prst="rect">
            <a:avLst/>
          </a:prstGeom>
          <a:solidFill>
            <a:srgbClr val="F1ECE4"/>
          </a:solidFill>
          <a:ln w="12700">
            <a:solidFill>
              <a:srgbClr val="F1ECE4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229600" y="1920240"/>
            <a:ext cx="73152" cy="3337560"/>
          </a:xfrm>
          <a:prstGeom prst="rect">
            <a:avLst/>
          </a:prstGeom>
          <a:solidFill>
            <a:srgbClr val="466552"/>
          </a:solidFill>
          <a:ln w="12700">
            <a:solidFill>
              <a:srgbClr val="46655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485632" y="2121408"/>
            <a:ext cx="2971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201A17"/>
                </a:solidFill>
              </a:rPr>
              <a:t>Pilot success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8485632" y="2542032"/>
            <a:ext cx="2953512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1250" dirty="0">
                <a:solidFill>
                  <a:srgbClr val="665E55"/>
                </a:solidFill>
              </a:rPr>
              <a:t>Lead time met</a:t>
            </a:r>
            <a:endParaRPr lang="en-US" sz="1250" dirty="0"/>
          </a:p>
          <a:p>
            <a:pPr marL="152400" indent="-152400">
              <a:buSzPct val="100000"/>
              <a:buChar char="•"/>
            </a:pPr>
            <a:r>
              <a:rPr lang="en-US" sz="1250" dirty="0">
                <a:solidFill>
                  <a:srgbClr val="665E55"/>
                </a:solidFill>
              </a:rPr>
              <a:t>Few avoidable reworks</a:t>
            </a:r>
            <a:endParaRPr lang="en-US" sz="1250" dirty="0"/>
          </a:p>
          <a:p>
            <a:pPr marL="152400" indent="-152400">
              <a:buSzPct val="100000"/>
              <a:buChar char="•"/>
            </a:pPr>
            <a:r>
              <a:rPr lang="en-US" sz="1250" dirty="0">
                <a:solidFill>
                  <a:srgbClr val="665E55"/>
                </a:solidFill>
              </a:rPr>
              <a:t>Margin is viable</a:t>
            </a:r>
            <a:endParaRPr lang="en-US" sz="1250" dirty="0"/>
          </a:p>
          <a:p>
            <a:pPr marL="152400" indent="-152400">
              <a:buSzPct val="100000"/>
              <a:buChar char="•"/>
            </a:pPr>
            <a:r>
              <a:rPr lang="en-US" sz="1250" dirty="0">
                <a:solidFill>
                  <a:srgbClr val="665E55"/>
                </a:solidFill>
              </a:rPr>
              <a:t>Customers understand the offer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B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9184"/>
            <a:ext cx="5943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A682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FRAMEWORTHY × BUBOLA &amp; NAIBO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530352" y="6382512"/>
            <a:ext cx="11137392" cy="0"/>
          </a:xfrm>
          <a:prstGeom prst="line">
            <a:avLst/>
          </a:prstGeom>
          <a:noFill/>
          <a:ln w="7620">
            <a:solidFill>
              <a:srgbClr val="D8D0C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064240" y="6473952"/>
            <a:ext cx="594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5E55"/>
                </a:solidFill>
              </a:rPr>
              <a:t>05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30352" y="749808"/>
            <a:ext cx="10835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201A1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workshop’s real catalogue becomes the product.</a:t>
            </a:r>
            <a:endParaRPr lang="en-US" sz="2900" dirty="0"/>
          </a:p>
        </p:txBody>
      </p:sp>
      <p:sp>
        <p:nvSpPr>
          <p:cNvPr id="6" name="Text 4"/>
          <p:cNvSpPr/>
          <p:nvPr/>
        </p:nvSpPr>
        <p:spPr>
          <a:xfrm>
            <a:off x="530352" y="1353312"/>
            <a:ext cx="9966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665E55"/>
                </a:solidFill>
              </a:rPr>
              <a:t>The highest-value onboarding task is converting physical knowledge into accurate, maintainable digital data.</a:t>
            </a:r>
            <a:endParaRPr lang="en-US" sz="135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1874520"/>
          <a:ext cx="10698480" cy="3566160"/>
        </p:xfrm>
        <a:graphic>
          <a:graphicData uri="http://schemas.openxmlformats.org/drawingml/2006/table">
            <a:tbl>
              <a:tblPr/>
              <a:tblGrid>
                <a:gridCol w="4160520"/>
                <a:gridCol w="6537960"/>
              </a:tblGrid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201A1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Data to capture</a:t>
                      </a:r>
                      <a:endParaRPr lang="en-US" sz="14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91440" marB="91440">
                    <a:lnL w="10160" cap="flat" cmpd="sng" algn="ctr">
                      <a:solidFill>
                        <a:srgbClr val="D8D0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8D0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8D0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8D0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9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201A1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Why it matters</a:t>
                      </a:r>
                      <a:endParaRPr lang="en-US" sz="14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91440" marB="91440">
                    <a:lnL w="10160" cap="flat" cmpd="sng" algn="ctr">
                      <a:solidFill>
                        <a:srgbClr val="D8D0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8D0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8D0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8D0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9F5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201A1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SKU, name &amp; availability</a:t>
                      </a:r>
                      <a:endParaRPr lang="en-US" sz="14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91440" marB="91440">
                    <a:lnL w="10160" cap="flat" cmpd="sng" algn="ctr">
                      <a:solidFill>
                        <a:srgbClr val="D8D0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8D0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8D0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8D0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9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201A1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Prevents incorrect substitutions</a:t>
                      </a:r>
                      <a:endParaRPr lang="en-US" sz="14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91440" marB="91440">
                    <a:lnL w="10160" cap="flat" cmpd="sng" algn="ctr">
                      <a:solidFill>
                        <a:srgbClr val="D8D0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8D0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8D0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8D0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9F5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201A1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Face width, depth &amp; rebate</a:t>
                      </a:r>
                      <a:endParaRPr lang="en-US" sz="14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91440" marB="91440">
                    <a:lnL w="10160" cap="flat" cmpd="sng" algn="ctr">
                      <a:solidFill>
                        <a:srgbClr val="D8D0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8D0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8D0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8D0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9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201A1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Accurate pricing and visual scale</a:t>
                      </a:r>
                      <a:endParaRPr lang="en-US" sz="14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91440" marB="91440">
                    <a:lnL w="10160" cap="flat" cmpd="sng" algn="ctr">
                      <a:solidFill>
                        <a:srgbClr val="D8D0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8D0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8D0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8D0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9F5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201A1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Finish photographs / samples</a:t>
                      </a:r>
                      <a:endParaRPr lang="en-US" sz="14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91440" marB="91440">
                    <a:lnL w="10160" cap="flat" cmpd="sng" algn="ctr">
                      <a:solidFill>
                        <a:srgbClr val="D8D0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8D0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8D0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8D0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9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201A1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Selected style reads consistently</a:t>
                      </a:r>
                      <a:endParaRPr lang="en-US" sz="14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91440" marB="91440">
                    <a:lnL w="10160" cap="flat" cmpd="sng" algn="ctr">
                      <a:solidFill>
                        <a:srgbClr val="D8D0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8D0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8D0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8D0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9F5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201A1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Material, glazing &amp; mat options</a:t>
                      </a:r>
                      <a:endParaRPr lang="en-US" sz="14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91440" marB="91440">
                    <a:lnL w="10160" cap="flat" cmpd="sng" algn="ctr">
                      <a:solidFill>
                        <a:srgbClr val="D8D0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8D0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8D0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8D0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9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201A1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Production-ready specification</a:t>
                      </a:r>
                      <a:endParaRPr lang="en-US" sz="14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91440" marB="91440">
                    <a:lnL w="10160" cap="flat" cmpd="sng" algn="ctr">
                      <a:solidFill>
                        <a:srgbClr val="D8D0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8D0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8D0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8D0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9F5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201A1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Price and lead-time rules</a:t>
                      </a:r>
                      <a:endParaRPr lang="en-US" sz="14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91440" marB="91440">
                    <a:lnL w="10160" cap="flat" cmpd="sng" algn="ctr">
                      <a:solidFill>
                        <a:srgbClr val="D8D0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8D0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8D0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8D0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9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201A1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 reliable customer promise</a:t>
                      </a:r>
                      <a:endParaRPr lang="en-US" sz="14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91440" marB="91440">
                    <a:lnL w="10160" cap="flat" cmpd="sng" algn="ctr">
                      <a:solidFill>
                        <a:srgbClr val="D8D0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8D0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8D0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8D0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9F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B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9184"/>
            <a:ext cx="5943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A682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FRAMEWORTHY × BUBOLA &amp; NAIBO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530352" y="6382512"/>
            <a:ext cx="11137392" cy="0"/>
          </a:xfrm>
          <a:prstGeom prst="line">
            <a:avLst/>
          </a:prstGeom>
          <a:noFill/>
          <a:ln w="7620">
            <a:solidFill>
              <a:srgbClr val="D8D0C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064240" y="6473952"/>
            <a:ext cx="594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5E55"/>
                </a:solidFill>
              </a:rPr>
              <a:t>06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30352" y="749808"/>
            <a:ext cx="10835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201A1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Commercial structure can follow proven demand.</a:t>
            </a:r>
            <a:endParaRPr lang="en-US" sz="2900" dirty="0"/>
          </a:p>
        </p:txBody>
      </p:sp>
      <p:sp>
        <p:nvSpPr>
          <p:cNvPr id="6" name="Text 4"/>
          <p:cNvSpPr/>
          <p:nvPr/>
        </p:nvSpPr>
        <p:spPr>
          <a:xfrm>
            <a:off x="530352" y="1353312"/>
            <a:ext cx="9966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665E55"/>
                </a:solidFill>
              </a:rPr>
              <a:t>FrameWorthy’s preference is a partnership first; the other structures remain available if they better fit your goals.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530352" y="1965960"/>
            <a:ext cx="3383280" cy="3337560"/>
          </a:xfrm>
          <a:prstGeom prst="rect">
            <a:avLst/>
          </a:prstGeom>
          <a:solidFill>
            <a:srgbClr val="F1ECE4"/>
          </a:solidFill>
          <a:ln w="12700">
            <a:solidFill>
              <a:srgbClr val="F1ECE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30352" y="1965960"/>
            <a:ext cx="73152" cy="3337560"/>
          </a:xfrm>
          <a:prstGeom prst="rect">
            <a:avLst/>
          </a:prstGeom>
          <a:solidFill>
            <a:srgbClr val="A6824C"/>
          </a:solidFill>
          <a:ln w="12700">
            <a:solidFill>
              <a:srgbClr val="A6824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86384" y="2167128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201A17"/>
                </a:solidFill>
              </a:rPr>
              <a:t>1. Production partner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86384" y="2587752"/>
            <a:ext cx="2907792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1250" dirty="0">
                <a:solidFill>
                  <a:srgbClr val="665E55"/>
                </a:solidFill>
              </a:rPr>
              <a:t>FrameWorthy owns the digital customer journey; Bubola &amp; Naibo fulfils to agreed service levels.</a:t>
            </a:r>
            <a:endParaRPr lang="en-US" sz="1250" dirty="0"/>
          </a:p>
          <a:p>
            <a:pPr marL="152400" indent="-152400">
              <a:buSzPct val="100000"/>
              <a:buChar char="•"/>
            </a:pPr>
            <a:endParaRPr lang="en-US" sz="1250" dirty="0"/>
          </a:p>
          <a:p>
            <a:pPr marL="152400" indent="-152400">
              <a:buSzPct val="100000"/>
              <a:buChar char="•"/>
            </a:pPr>
            <a:r>
              <a:rPr lang="en-US" sz="1250" dirty="0">
                <a:solidFill>
                  <a:srgbClr val="665E55"/>
                </a:solidFill>
              </a:rPr>
              <a:t>Best starting point.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4407408" y="1965960"/>
            <a:ext cx="3383280" cy="3337560"/>
          </a:xfrm>
          <a:prstGeom prst="rect">
            <a:avLst/>
          </a:prstGeom>
          <a:solidFill>
            <a:srgbClr val="F1ECE4"/>
          </a:solidFill>
          <a:ln w="12700">
            <a:solidFill>
              <a:srgbClr val="F1ECE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407408" y="1965960"/>
            <a:ext cx="73152" cy="3337560"/>
          </a:xfrm>
          <a:prstGeom prst="rect">
            <a:avLst/>
          </a:prstGeom>
          <a:solidFill>
            <a:srgbClr val="A6824C"/>
          </a:solidFill>
          <a:ln w="12700">
            <a:solidFill>
              <a:srgbClr val="A6824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63440" y="2167128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201A17"/>
                </a:solidFill>
              </a:rPr>
              <a:t>2. White-label platform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663440" y="2587752"/>
            <a:ext cx="2907792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1250" dirty="0">
                <a:solidFill>
                  <a:srgbClr val="665E55"/>
                </a:solidFill>
              </a:rPr>
              <a:t>A Bubola &amp; Naibo-branded configurator on your website, with your catalogue, prices and workflow.</a:t>
            </a:r>
            <a:endParaRPr lang="en-US" sz="1250" dirty="0"/>
          </a:p>
          <a:p>
            <a:pPr marL="152400" indent="-152400">
              <a:buSzPct val="100000"/>
              <a:buChar char="•"/>
            </a:pPr>
            <a:endParaRPr lang="en-US" sz="1250" dirty="0"/>
          </a:p>
          <a:p>
            <a:pPr marL="152400" indent="-152400">
              <a:buSzPct val="100000"/>
              <a:buChar char="•"/>
            </a:pPr>
            <a:r>
              <a:rPr lang="en-US" sz="1250" dirty="0">
                <a:solidFill>
                  <a:srgbClr val="665E55"/>
                </a:solidFill>
              </a:rPr>
              <a:t>Setup + recurring licence.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8284464" y="1965960"/>
            <a:ext cx="3383280" cy="3337560"/>
          </a:xfrm>
          <a:prstGeom prst="rect">
            <a:avLst/>
          </a:prstGeom>
          <a:solidFill>
            <a:srgbClr val="F1ECE4"/>
          </a:solidFill>
          <a:ln w="12700">
            <a:solidFill>
              <a:srgbClr val="F1ECE4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284464" y="1965960"/>
            <a:ext cx="73152" cy="3337560"/>
          </a:xfrm>
          <a:prstGeom prst="rect">
            <a:avLst/>
          </a:prstGeom>
          <a:solidFill>
            <a:srgbClr val="466552"/>
          </a:solidFill>
          <a:ln w="12700">
            <a:solidFill>
              <a:srgbClr val="46655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540496" y="2167128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201A17"/>
                </a:solidFill>
              </a:rPr>
              <a:t>3. Acquisition / licence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8540496" y="2587752"/>
            <a:ext cx="2907792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1250" dirty="0">
                <a:solidFill>
                  <a:srgbClr val="665E55"/>
                </a:solidFill>
              </a:rPr>
              <a:t>A transfer or licence of the product and operating assets, with transition support.</a:t>
            </a:r>
            <a:endParaRPr lang="en-US" sz="1250" dirty="0"/>
          </a:p>
          <a:p>
            <a:pPr marL="152400" indent="-152400">
              <a:buSzPct val="100000"/>
              <a:buChar char="•"/>
            </a:pPr>
            <a:endParaRPr lang="en-US" sz="1250" dirty="0"/>
          </a:p>
          <a:p>
            <a:pPr marL="152400" indent="-152400">
              <a:buSzPct val="100000"/>
              <a:buChar char="•"/>
            </a:pPr>
            <a:r>
              <a:rPr lang="en-US" sz="1250" dirty="0">
                <a:solidFill>
                  <a:srgbClr val="665E55"/>
                </a:solidFill>
              </a:rPr>
              <a:t>Discuss only after pilot evidence.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B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9184"/>
            <a:ext cx="5943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A682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FRAMEWORTHY × BUBOLA &amp; NAIBO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530352" y="6382512"/>
            <a:ext cx="11137392" cy="0"/>
          </a:xfrm>
          <a:prstGeom prst="line">
            <a:avLst/>
          </a:prstGeom>
          <a:noFill/>
          <a:ln w="7620">
            <a:solidFill>
              <a:srgbClr val="D8D0C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064240" y="6473952"/>
            <a:ext cx="594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5E55"/>
                </a:solidFill>
              </a:rPr>
              <a:t>07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30352" y="749808"/>
            <a:ext cx="10835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201A1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We need clarity on the production system before we scale demand.</a:t>
            </a:r>
            <a:endParaRPr lang="en-US" sz="2900" dirty="0"/>
          </a:p>
        </p:txBody>
      </p:sp>
      <p:sp>
        <p:nvSpPr>
          <p:cNvPr id="6" name="Text 4"/>
          <p:cNvSpPr/>
          <p:nvPr/>
        </p:nvSpPr>
        <p:spPr>
          <a:xfrm>
            <a:off x="530352" y="1353312"/>
            <a:ext cx="9966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665E55"/>
                </a:solidFill>
              </a:rPr>
              <a:t>These are the questions that turn a conversation into an operating partnership.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566928" y="1901952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A6824C"/>
                </a:solidFill>
              </a:rPr>
              <a:t>Quality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66928" y="2286000"/>
            <a:ext cx="3383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201A17"/>
                </a:solidFill>
              </a:rPr>
              <a:t>What is inspected before dispatch? Who approves a remake?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334256" y="1901952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A6824C"/>
                </a:solidFill>
              </a:rPr>
              <a:t>Capacity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4334256" y="2286000"/>
            <a:ext cx="3383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201A17"/>
                </a:solidFill>
              </a:rPr>
              <a:t>What weekly volume can be committed by format and season?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8101584" y="1901952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A6824C"/>
                </a:solidFill>
              </a:rPr>
              <a:t>Pricing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8101584" y="2286000"/>
            <a:ext cx="3383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201A17"/>
                </a:solidFill>
              </a:rPr>
              <a:t>What is the price formula, revision notice and minimum order?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66928" y="3685032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A6824C"/>
                </a:solidFill>
              </a:rPr>
              <a:t>Fulfilment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566928" y="4069080"/>
            <a:ext cx="3383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201A17"/>
                </a:solidFill>
              </a:rPr>
              <a:t>Who owns packaging, delivery damage and customer communication?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334256" y="3685032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A6824C"/>
                </a:solidFill>
              </a:rPr>
              <a:t>Availability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4334256" y="4069080"/>
            <a:ext cx="3383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201A17"/>
                </a:solidFill>
              </a:rPr>
              <a:t>How will stock-outs, substitutes and new mouldings be updated?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8101584" y="3685032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A6824C"/>
                </a:solidFill>
              </a:rPr>
              <a:t>Data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8101584" y="4069080"/>
            <a:ext cx="3383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201A17"/>
                </a:solidFill>
              </a:rPr>
              <a:t>Who owns customer records, catalogue images and order history?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B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9184"/>
            <a:ext cx="5943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A682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FRAMEWORTHY × BUBOLA &amp; NAIBO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530352" y="6382512"/>
            <a:ext cx="11137392" cy="0"/>
          </a:xfrm>
          <a:prstGeom prst="line">
            <a:avLst/>
          </a:prstGeom>
          <a:noFill/>
          <a:ln w="7620">
            <a:solidFill>
              <a:srgbClr val="D8D0C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064240" y="6473952"/>
            <a:ext cx="594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5E55"/>
                </a:solidFill>
              </a:rPr>
              <a:t>08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30352" y="749808"/>
            <a:ext cx="10835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201A1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AR and visualisation should represent the real moulding—not invent it.</a:t>
            </a:r>
            <a:endParaRPr lang="en-US" sz="2900" dirty="0"/>
          </a:p>
        </p:txBody>
      </p:sp>
      <p:sp>
        <p:nvSpPr>
          <p:cNvPr id="6" name="Text 4"/>
          <p:cNvSpPr/>
          <p:nvPr/>
        </p:nvSpPr>
        <p:spPr>
          <a:xfrm>
            <a:off x="530352" y="1353312"/>
            <a:ext cx="9966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665E55"/>
                </a:solidFill>
              </a:rPr>
              <a:t>FrameWorthy will use the studio’s approved sample photographs and dimensions; 3D-perfect profiles require measured cross-sections or scans.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40080" y="2011680"/>
            <a:ext cx="3429000" cy="3063240"/>
          </a:xfrm>
          <a:prstGeom prst="rect">
            <a:avLst/>
          </a:prstGeom>
          <a:solidFill>
            <a:srgbClr val="F1ECE4"/>
          </a:solidFill>
          <a:ln w="12700">
            <a:solidFill>
              <a:srgbClr val="F1ECE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40080" y="2011680"/>
            <a:ext cx="73152" cy="3063240"/>
          </a:xfrm>
          <a:prstGeom prst="rect">
            <a:avLst/>
          </a:prstGeom>
          <a:solidFill>
            <a:srgbClr val="A6824C"/>
          </a:solidFill>
          <a:ln w="12700">
            <a:solidFill>
              <a:srgbClr val="A6824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96112" y="2212848"/>
            <a:ext cx="2971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201A17"/>
                </a:solidFill>
              </a:rPr>
              <a:t>Now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896112" y="2633472"/>
            <a:ext cx="2953512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1250" dirty="0">
                <a:solidFill>
                  <a:srgbClr val="665E55"/>
                </a:solidFill>
              </a:rPr>
              <a:t>Selected style, colour, width category, artwork and physical dimensions are carried into visualisation.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4389120" y="2011680"/>
            <a:ext cx="3429000" cy="3063240"/>
          </a:xfrm>
          <a:prstGeom prst="rect">
            <a:avLst/>
          </a:prstGeom>
          <a:solidFill>
            <a:srgbClr val="F1ECE4"/>
          </a:solidFill>
          <a:ln w="12700">
            <a:solidFill>
              <a:srgbClr val="F1ECE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389120" y="2011680"/>
            <a:ext cx="73152" cy="3063240"/>
          </a:xfrm>
          <a:prstGeom prst="rect">
            <a:avLst/>
          </a:prstGeom>
          <a:solidFill>
            <a:srgbClr val="A6824C"/>
          </a:solidFill>
          <a:ln w="12700">
            <a:solidFill>
              <a:srgbClr val="A6824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45152" y="2212848"/>
            <a:ext cx="2971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201A17"/>
                </a:solidFill>
              </a:rPr>
              <a:t>Next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645152" y="2633472"/>
            <a:ext cx="2953512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1250" dirty="0">
                <a:solidFill>
                  <a:srgbClr val="665E55"/>
                </a:solidFill>
              </a:rPr>
              <a:t>Photograph approved samples consistently; capture face width, depth and rebate; maintain availability.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8138160" y="2011680"/>
            <a:ext cx="3429000" cy="3063240"/>
          </a:xfrm>
          <a:prstGeom prst="rect">
            <a:avLst/>
          </a:prstGeom>
          <a:solidFill>
            <a:srgbClr val="F1ECE4"/>
          </a:solidFill>
          <a:ln w="12700">
            <a:solidFill>
              <a:srgbClr val="F1ECE4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138160" y="2011680"/>
            <a:ext cx="73152" cy="3063240"/>
          </a:xfrm>
          <a:prstGeom prst="rect">
            <a:avLst/>
          </a:prstGeom>
          <a:solidFill>
            <a:srgbClr val="466552"/>
          </a:solidFill>
          <a:ln w="12700">
            <a:solidFill>
              <a:srgbClr val="46655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394192" y="2212848"/>
            <a:ext cx="2971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201A17"/>
                </a:solidFill>
              </a:rPr>
              <a:t>Later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8394192" y="2633472"/>
            <a:ext cx="2953512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1250" dirty="0">
                <a:solidFill>
                  <a:srgbClr val="665E55"/>
                </a:solidFill>
              </a:rPr>
              <a:t>For priority styles, add measured profiles or 3D scans for materially higher AR fidelity.</a:t>
            </a:r>
            <a:endParaRPr lang="en-US" sz="12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B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9184"/>
            <a:ext cx="5943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A682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FRAMEWORTHY × BUBOLA &amp; NAIBO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530352" y="6382512"/>
            <a:ext cx="11137392" cy="0"/>
          </a:xfrm>
          <a:prstGeom prst="line">
            <a:avLst/>
          </a:prstGeom>
          <a:noFill/>
          <a:ln w="7620">
            <a:solidFill>
              <a:srgbClr val="D8D0C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064240" y="6473952"/>
            <a:ext cx="594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5E55"/>
                </a:solidFill>
              </a:rPr>
              <a:t>09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30352" y="749808"/>
            <a:ext cx="10835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201A1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 practical 60-day path to a decision.</a:t>
            </a:r>
            <a:endParaRPr lang="en-US" sz="2900" dirty="0"/>
          </a:p>
        </p:txBody>
      </p:sp>
      <p:sp>
        <p:nvSpPr>
          <p:cNvPr id="6" name="Text 4"/>
          <p:cNvSpPr/>
          <p:nvPr/>
        </p:nvSpPr>
        <p:spPr>
          <a:xfrm>
            <a:off x="530352" y="1353312"/>
            <a:ext cx="9966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665E55"/>
                </a:solidFill>
              </a:rPr>
              <a:t>Each milestone produces evidence for scaling, white-labelling, licensing—or stopping cleanly.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58368" y="3035808"/>
            <a:ext cx="2423160" cy="0"/>
          </a:xfrm>
          <a:prstGeom prst="line">
            <a:avLst/>
          </a:prstGeom>
          <a:noFill/>
          <a:ln w="12700">
            <a:solidFill>
              <a:srgbClr val="D8D0C3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86968" y="2852928"/>
            <a:ext cx="347472" cy="347472"/>
          </a:xfrm>
          <a:prstGeom prst="ellipse">
            <a:avLst/>
          </a:prstGeom>
          <a:solidFill>
            <a:srgbClr val="A6824C"/>
          </a:solidFill>
          <a:ln w="12700">
            <a:solidFill>
              <a:srgbClr val="A6824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58368" y="228600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01A17"/>
                </a:solidFill>
              </a:rPr>
              <a:t>Week 1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58368" y="3493008"/>
            <a:ext cx="2240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665E55"/>
                </a:solidFill>
              </a:rPr>
              <a:t>Catalogue &amp; terms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3456432" y="3035808"/>
            <a:ext cx="2423160" cy="0"/>
          </a:xfrm>
          <a:prstGeom prst="line">
            <a:avLst/>
          </a:prstGeom>
          <a:noFill/>
          <a:ln w="12700">
            <a:solidFill>
              <a:srgbClr val="D8D0C3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685032" y="2852928"/>
            <a:ext cx="347472" cy="347472"/>
          </a:xfrm>
          <a:prstGeom prst="ellipse">
            <a:avLst/>
          </a:prstGeom>
          <a:solidFill>
            <a:srgbClr val="A6824C"/>
          </a:solidFill>
          <a:ln w="12700">
            <a:solidFill>
              <a:srgbClr val="A6824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456432" y="228600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01A17"/>
                </a:solidFill>
              </a:rPr>
              <a:t>Weeks 2–3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3456432" y="3493008"/>
            <a:ext cx="2240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665E55"/>
                </a:solidFill>
              </a:rPr>
              <a:t>Onboard assets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665E55"/>
                </a:solidFill>
              </a:rPr>
              <a:t>&amp; pricing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6254496" y="3035808"/>
            <a:ext cx="2423160" cy="0"/>
          </a:xfrm>
          <a:prstGeom prst="line">
            <a:avLst/>
          </a:prstGeom>
          <a:noFill/>
          <a:ln w="12700">
            <a:solidFill>
              <a:srgbClr val="D8D0C3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483096" y="2852928"/>
            <a:ext cx="347472" cy="347472"/>
          </a:xfrm>
          <a:prstGeom prst="ellipse">
            <a:avLst/>
          </a:prstGeom>
          <a:solidFill>
            <a:srgbClr val="A6824C"/>
          </a:solidFill>
          <a:ln w="12700">
            <a:solidFill>
              <a:srgbClr val="A6824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254496" y="228600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01A17"/>
                </a:solidFill>
              </a:rPr>
              <a:t>Weeks 4–7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254496" y="3493008"/>
            <a:ext cx="2240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665E55"/>
                </a:solidFill>
              </a:rPr>
              <a:t>Live pilot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665E55"/>
                </a:solidFill>
              </a:rPr>
              <a:t>&amp; weekly review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9052560" y="3035808"/>
            <a:ext cx="2423160" cy="0"/>
          </a:xfrm>
          <a:prstGeom prst="line">
            <a:avLst/>
          </a:prstGeom>
          <a:noFill/>
          <a:ln w="12700">
            <a:solidFill>
              <a:srgbClr val="D8D0C3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281160" y="2852928"/>
            <a:ext cx="347472" cy="347472"/>
          </a:xfrm>
          <a:prstGeom prst="ellipse">
            <a:avLst/>
          </a:prstGeom>
          <a:solidFill>
            <a:srgbClr val="466552"/>
          </a:solidFill>
          <a:ln w="12700">
            <a:solidFill>
              <a:srgbClr val="46655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052560" y="228600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01A17"/>
                </a:solidFill>
              </a:rPr>
              <a:t>Week 8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9052560" y="3493008"/>
            <a:ext cx="2240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665E55"/>
                </a:solidFill>
              </a:rPr>
              <a:t>Joint decision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201A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21792" y="1051560"/>
            <a:ext cx="96012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Let’s decide whether a pilot is worth building together.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640080" y="288036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A6824C"/>
                </a:solidFill>
              </a:rPr>
              <a:t>Requested next steps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58368" y="3319272"/>
            <a:ext cx="66751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F0EBE2"/>
                </a:solidFill>
              </a:rPr>
              <a:t>1. Nominate a production lead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F0EBE2"/>
                </a:solidFill>
              </a:rPr>
              <a:t>2. Share a starter catalogue and sample set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F0EBE2"/>
                </a:solidFill>
              </a:rPr>
              <a:t>3. Agree pilot scope, lead times and commercial model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F0EBE2"/>
                </a:solidFill>
              </a:rPr>
              <a:t>4. Schedule the workflow review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658368" y="5559552"/>
            <a:ext cx="5669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8D0C3"/>
                </a:solidFill>
              </a:rPr>
              <a:t>FrameWorthy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D8D0C3"/>
                </a:solidFill>
              </a:rPr>
              <a:t>Digital custom framing, built around real craftsmanship.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FrameWorthy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FrameWorthy × Bubola &amp; Naibo</dc:title>
  <dc:subject>Production partnership proposal</dc:subject>
  <dc:creator>FrameWorthy</dc:creator>
  <cp:lastModifiedBy>FrameWorthy</cp:lastModifiedBy>
  <cp:revision>1</cp:revision>
  <dcterms:created xsi:type="dcterms:W3CDTF">2026-08-09T01:40:51Z</dcterms:created>
  <dcterms:modified xsi:type="dcterms:W3CDTF">2026-08-09T01:40:51Z</dcterms:modified>
</cp:coreProperties>
</file>